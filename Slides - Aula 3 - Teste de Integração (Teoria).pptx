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teórica — avise logo de cara que hoje ninguém abre o VS Code, e que isso é de propósito: a prática da semana que vem só faz sentido depois que a cabeça entender o problema. Comece pelo slide 2, que é uma piada, mas é a aula inteira em três frases.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as três em voz alta, com pausa. A turma vai rir da terceira porque é o app deles. O fecho é a frase de baixo: em todos os três casos, NENHUM arquivo estava errado sozinho. Se você pegasse cada peça e testasse, todas passariam. É esse tipo de bug que a aula de hoje explica.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metáfora que amarra a aula inteira. Pergunte antes de mostrar: 'uma banda em que todo mundo toca bem sozinho já é uma banda boa?' Não — falta o ensaio. É exatamente a diferença entre unidade e integração. Volte nesta metáfora nos slides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 econômico, que é o que convence. O mesmo bug custa coisas muito diferentes dependendo de quem encontra. Pergunte: 'quem vocês preferem que ache o bug?' A resposta é sempre a máquina. Cite a ISO 25010 do Plano 9: confiabilidade e manutenibilidade são atributos de qualidade — e teste é como se mede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de referência da aula. Percorra linha por linha, sempre voltando na banda: o músico sozinho x o ensaio. A linha 'quando falha' é a mais importante: no teste de unidade o erro aponta a linha; no de integração ele diz que alguma coisa entre dez arquivos quebrou. É o preço de cobrir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Receita em três passos. O ponto que precisa ficar é a coluna da direita: o que NÃO entra. Teste de unidade é sobre o que você deixa de fora. Se entrou rota, contexto, banco ou internet, deixou de ser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receita, com um passo a mais no começo: montar o cenário. É esse passo que dá o trabalho e é ele que separa os dois tipos. Use a banda: para ensaiar você precisa da sala, dos amplificadores e de todo mundo lá — no teste de unidade o cara só pega o violão.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vantagens. A mais forte é a segunda: teste de integração é o que sobrevive a refatoração. Se você reescreve o código por dentro, os testes de unidade quebram todos; o de integração continua verde, porque ele testa o COMPORTAMENTO, não o desenho interno. É o argumento que os seniores usam.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honesto aqui — aluno desconfia de tecnologia que só tem vantagem. O item mais importante é o teste intermitente (flaky): ele passa, passa, passa e um dia falha sozinho. Isso destrói a confiança na suíte inteira, porque as pessoas começam a ignorar o vermelho. Um teste intermitente é pior que nenhum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prático dentro da aula teórica: a régua que eles vão usar quando escreverem os próprios testes. Leia cada pergunta e deixe a turma responder antes de revelar. A última é a que mais confunde: 'testar que o botão existe' é unidade; 'testar que o botão faz alguma coisa' é integração.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Ninguém digita nada — este slide é para LER junto. Percorra as quatro marcações na ordem. O ponto alto é a marcação 4: o Header não é mencionado em lugar nenhum do teste, e mesmo assim é ele que prova que deu certo. É a definição de integração em uma linha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minutos. A frase da banda é a que fica — se eles lembrarem só dela, a aula valeu. Feche marcando a próxima: semana que vem esse mesmo teste do slide 11 é escrito por eles, linha por linha, e o Header vai mudar sozinho na frente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49440" y="173736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3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949440" y="2395728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B3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unidade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949440" y="3054096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F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1810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3  ·  TESTES DE SOFTWARE  ·  TEORIA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10312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66928" y="32918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peças perfeitas não garantem um app que funciona.</a:t>
            </a:r>
            <a:endParaRPr lang="en-US" sz="16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gente entende por quê — sem digitar uma linha.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66928" y="4315968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mão na massa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42032" y="4315968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42032" y="4315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68496" y="4315968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68496" y="4315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traga só a cabeça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Bruno Schmitz  ·  Implantação e Manutenção de Sistemas  ·  3ª série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COMEÇAR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frases que todo programador já disse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no que elas têm em comum.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3533546" cy="2148840"/>
          </a:xfrm>
          <a:prstGeom prst="roundRect">
            <a:avLst>
              <a:gd name="adj" fmla="val 255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121408"/>
            <a:ext cx="298490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funciona.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funciona.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2999232"/>
            <a:ext cx="2984906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127248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botão não faz nada.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29074" y="1920240"/>
            <a:ext cx="3533546" cy="2148840"/>
          </a:xfrm>
          <a:prstGeom prst="roundRect">
            <a:avLst>
              <a:gd name="adj" fmla="val 255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3394" y="2121408"/>
            <a:ext cx="298490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login aceita a senha.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salva o usuário.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03394" y="2999232"/>
            <a:ext cx="2984906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03394" y="3127248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consegue entrar.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91221" y="1920240"/>
            <a:ext cx="3533546" cy="2148840"/>
          </a:xfrm>
          <a:prstGeom prst="roundRect">
            <a:avLst>
              <a:gd name="adj" fmla="val 255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65541" y="2121408"/>
            <a:ext cx="298490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soma direito.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Header mostra o número.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365541" y="2999232"/>
            <a:ext cx="2984906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5541" y="3127248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Header mostra zero. Sempre.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6928" y="4297680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4498848"/>
            <a:ext cx="10436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nenhum dos três existe um arquivo errado.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77824" y="4864608"/>
            <a:ext cx="104360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pegar cada peça sozinha e testar, todas passam. O defeito não mora dentro de nenhuma delas — mora no espaço entre elas. E é justamente esse espaço que o teste de unidade não enxerga.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é o ensaio da banda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3533546" cy="27432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84832"/>
            <a:ext cx="457200" cy="54864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231136"/>
            <a:ext cx="3021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UM NO SEU QUARTO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baterista treina sozinho. O guitarrista afina sozinho.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493008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DE UNIDADE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803904"/>
            <a:ext cx="30214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funciona por conta própria?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9074" y="1874520"/>
            <a:ext cx="3533546" cy="2743200"/>
          </a:xfrm>
          <a:prstGeom prst="roundRect">
            <a:avLst>
              <a:gd name="adj" fmla="val 2000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5106" y="2084832"/>
            <a:ext cx="457200" cy="5486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85106" y="2231136"/>
            <a:ext cx="3021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ENSAIO DA BANDA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85106" y="2523744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Tocam juntos pela primeira vez. Descobrem que o baixo está em outro tom.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85106" y="3493008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DE INTEGRAÇÃO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85106" y="3803904"/>
            <a:ext cx="30214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 combinam quando tocam juntas?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91221" y="1874520"/>
            <a:ext cx="3533546" cy="27432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47253" y="2084832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47253" y="2231136"/>
            <a:ext cx="3021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SHOW COM PLATEIA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347253" y="2523744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Palco, luz, som, público. Tudo junto, de verdade.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47253" y="3493008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DE SISTEMA / E2E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347253" y="3803904"/>
            <a:ext cx="30214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inteira funciona?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66928" y="4846320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9536" y="484632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agora sem metáfora: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675888" y="4846320"/>
            <a:ext cx="76288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verifica se duas ou mais partes do sistema, funcionando juntas, produzem o resultado esperado.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IMPORTA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bug custa preços diferentes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encontra o defeito decide o tamanho do estrago.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6858000" cy="1170432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039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SUÍTE DE TESTES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41248" y="2295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41248" y="266090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nem chegou a commitar. Conserta e segue.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56048" y="2148840"/>
            <a:ext cx="925373" cy="329184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3172968"/>
            <a:ext cx="6858000" cy="1170432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3337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COLEGA, NO CODE REVIEW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41248" y="3593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41248" y="39593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e volta, mais o contexto que você já perdeu.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56048" y="3447288"/>
            <a:ext cx="1448410" cy="329184"/>
          </a:xfrm>
          <a:prstGeom prst="roundRect">
            <a:avLst>
              <a:gd name="adj" fmla="val 16667"/>
            </a:avLst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4471416"/>
            <a:ext cx="6858000" cy="1170432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4636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CLIENTE, EM PRODUÇÃO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41248" y="4892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inteiro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41248" y="525780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aberto, correção às pressas, e a confiança que não volta.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56048" y="4745736"/>
            <a:ext cx="2092147" cy="329184"/>
          </a:xfrm>
          <a:prstGeom prst="roundRect">
            <a:avLst>
              <a:gd name="adj" fmla="val 16667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44384" y="1874520"/>
            <a:ext cx="3980383" cy="1243584"/>
          </a:xfrm>
          <a:prstGeom prst="roundRect">
            <a:avLst>
              <a:gd name="adj" fmla="val 441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0416" y="2039112"/>
            <a:ext cx="3468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cedo é o negócio todo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900416" y="2368296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pega o defeito na sua máquina, antes de qualquer pessoa ver.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644384" y="3227832"/>
            <a:ext cx="3980383" cy="1243584"/>
          </a:xfrm>
          <a:prstGeom prst="roundRect">
            <a:avLst>
              <a:gd name="adj" fmla="val 441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00416" y="3392424"/>
            <a:ext cx="3468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Coragem para mexer no código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900416" y="3721608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suíte verde você refatora sem medo. Sem ela, todo mundo tem medo de encostar.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644384" y="4581144"/>
            <a:ext cx="3980383" cy="1243584"/>
          </a:xfrm>
          <a:prstGeom prst="roundRect">
            <a:avLst>
              <a:gd name="adj" fmla="val 441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0416" y="4745736"/>
            <a:ext cx="3468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norma, não é frescura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900416" y="5074920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e manutenibilidade são atributos da ISO/IEC 25010. Teste é como se mede.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COMPARANDO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× Integração, lado a lado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qual é melhor. É qual pergunta cada um responde.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11057839" cy="402336"/>
          </a:xfrm>
          <a:prstGeom prst="roundRect">
            <a:avLst>
              <a:gd name="adj" fmla="val 9091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20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511296" y="1920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DE UNIDADE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0336" y="1920240"/>
            <a:ext cx="44741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DE INTEGRAÇÃO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2395728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testa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11296" y="2395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peça sozinha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260336" y="2395728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ou mais peças juntas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926080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11296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peça está certa?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60336" y="2926080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peças se encaixam?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66928" y="3456432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banda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11296" y="3456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músico no quarto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260336" y="3456432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ensaio da banda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3986784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" y="39867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11296" y="3986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milissegundos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260336" y="3986784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décimos de segundo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517136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" y="45171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falha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511296" y="4517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a linha exata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260336" y="4517136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que algo entre 10 arquivos quebrou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66928" y="5047488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" y="5047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ter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511296" y="5047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— é a base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260336" y="5047488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alguns, nos caminhos principais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66928" y="5577840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8096" y="5577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trabalho?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511296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nenhum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7260336" y="5577840"/>
            <a:ext cx="44741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montar o cenário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RECEITA  ·  1 DE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monta um teste de unidade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passos, e uma lista do que fica de fora.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21945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a peça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98448" y="2359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ela. Uma função, um componente.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44368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32186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 com uma entrada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98448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os dados na mão. Nada vem de fora.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3968496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42428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saída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98448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resultado com o esperado.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502920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0A0E13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175504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calcularTotal([mouse]);</a:t>
            </a:r>
            <a:endParaRPr lang="en-US" sz="1100" dirty="0"/>
          </a:p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expect(total).toBe(100);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42432" y="1920240"/>
            <a:ext cx="5882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NÃO ENTRA NUM TESTE DE UNIDADE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42432" y="2249424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0176" y="2249424"/>
            <a:ext cx="274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27648" y="2359152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27648" y="2633472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precisa do banco, não é unidade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742432" y="3035808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80176" y="3035808"/>
            <a:ext cx="274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27648" y="3145536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API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327648" y="3419856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de rede torna o teste lento e instável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742432" y="3822192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0176" y="3822192"/>
            <a:ext cx="274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327648" y="393192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navegação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27648" y="4206240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o app inteiro, não uma peça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742432" y="4608576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80176" y="4608576"/>
            <a:ext cx="274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327648" y="4718304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tela junto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327648" y="4992624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telas já são integração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742432" y="5394960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80176" y="5394960"/>
            <a:ext cx="274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327648" y="5504688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do sistema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327648" y="5779008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Date.now() faz o teste mudar de resultado sozinho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RECEITA  ·  2 DE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monta um teste de integração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receita — com um passo a mais, e é ele que dá todo o trabalho.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2249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cenário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98448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 as peças que precisam conversar.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054096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3383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 como um usuário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98448" y="3511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Clique, digite. Não chame a função direto.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187952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45171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352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efeito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98448" y="4645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o resultado em OUTRA peça, não na que você mexeu.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5321808"/>
            <a:ext cx="5120640" cy="786384"/>
          </a:xfrm>
          <a:prstGeom prst="roundRect">
            <a:avLst>
              <a:gd name="adj" fmla="val 6977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532180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3 é a alma da coisa: mexo aqui, confiro ali.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016752" y="1920240"/>
            <a:ext cx="5608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MONTAR O CENÁRIO É JUNTAR OS "EMBRULHOS"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16752" y="2249424"/>
            <a:ext cx="5608015" cy="786384"/>
          </a:xfrm>
          <a:prstGeom prst="roundRect">
            <a:avLst>
              <a:gd name="adj" fmla="val 69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2432304"/>
            <a:ext cx="91440" cy="420624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37376" y="2359152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rotas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37376" y="2651760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tela saber qual produto abrir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0" y="3127248"/>
            <a:ext cx="5223967" cy="786384"/>
          </a:xfrm>
          <a:prstGeom prst="roundRect">
            <a:avLst>
              <a:gd name="adj" fmla="val 69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3310128"/>
            <a:ext cx="91440" cy="42062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21424" y="3236976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compartilhado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821424" y="3529584"/>
            <a:ext cx="4583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carrinho existir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784848" y="4005072"/>
            <a:ext cx="4839919" cy="786384"/>
          </a:xfrm>
          <a:prstGeom prst="roundRect">
            <a:avLst>
              <a:gd name="adj" fmla="val 69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86016" y="4187952"/>
            <a:ext cx="91440" cy="420624"/>
          </a:xfrm>
          <a:prstGeom prst="roundRect">
            <a:avLst>
              <a:gd name="adj" fmla="val 50000"/>
            </a:avLst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05472" y="4114800"/>
            <a:ext cx="4199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telas envolvidas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205472" y="4407408"/>
            <a:ext cx="4199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recebe o clique e a que mostra o efeito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016752" y="4937760"/>
            <a:ext cx="5608015" cy="1170432"/>
          </a:xfrm>
          <a:prstGeom prst="roundRect">
            <a:avLst>
              <a:gd name="adj" fmla="val 4688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91072" y="5102352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de verdade, quem monta isso?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291072" y="5394960"/>
            <a:ext cx="5059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que liga o app quando você abre o site. No teste, quem monta é você — e é por isso que dá mais trabalho.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LADO BOM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vale a pena escrever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2148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61872" y="2112264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o bug que ninguém pega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61872" y="2478024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defeito de encaixe é invisível para o teste de unidade — e é o que mais chega no cliente.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3008" y="1874520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7328" y="2148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27952" y="2112264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a refatoração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27952" y="2478024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reescreve o código por dentro, os testes de unidade quebram todos. O de integração continua verde, porque testa o comportamento, não o desenho.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630168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9044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61872" y="3867912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como o usuário usa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61872" y="4233672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Clica, digita, navega. Quanto mais parecido com o uso real, mais confiança o verde dá.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33008" y="3630168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07328" y="39044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0732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27952" y="3867912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o sistema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27952" y="4233672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testes de integração é entender o que o app faz — melhor que qualquer manual desatualizado.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66928" y="5431536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9536" y="5431536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de integração verde vale mais confiança do que dez de unidade — porque ele prova que o conjunto anda.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LADO RUIM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os problemas, que existem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2148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1872" y="2112264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lento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61872" y="2478024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cenário, renderizar, clicar. Cada teste custa décimos de segundo — e mil deles custam a paciência da turma.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3008" y="1874520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7328" y="2148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27952" y="2112264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não aponta o culpado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27952" y="2478024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Falhou. Onde? Pode ser em qualquer uma das dez peças envolvidas. Você vai investigar.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630168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9044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61872" y="3867912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ficar intermitente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61872" y="4233672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Passa, passa, passa e um dia falha sozinho. Aí ninguém confia mais no vermelho — e um teste assim é pior que nenhum.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33008" y="3630168"/>
            <a:ext cx="539176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07328" y="39044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0732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27952" y="3867912"/>
            <a:ext cx="442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quando a tela muda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27952" y="4233672"/>
            <a:ext cx="442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o texto do botão? O teste quebra, mesmo sem bug nenhum. Manutenção é parte do custo.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66928" y="5431536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9536" y="5431536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pirâmide: muitos testes baratos embaixo, poucos testes caros em cima. Não é preguiça — é economia.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PRÁTICA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dos dois eu escrevo?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resolve quase todos os casos: quantas peças precisam estar certas para isso funcionar?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2011680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conta, uma formatação, uma regra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65008" y="2112264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65008" y="21122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670048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componente que só recebe dados e desenha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65008" y="277063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5008" y="2770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3328416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328416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de borda: vazio, zero, nulo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65008" y="3429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65008" y="3429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" y="3986784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3986784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que muda outra parte da tela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065008" y="40873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" y="4645152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464515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rota que precisa abrir a tela certa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8065008" y="4745736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65008" y="47457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" y="5303520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9536" y="5303520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formulário que envia e mostra o resultado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8065008" y="5404104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65008" y="54041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710928" y="2011680"/>
            <a:ext cx="1913839" cy="3694176"/>
          </a:xfrm>
          <a:prstGeom prst="roundRect">
            <a:avLst>
              <a:gd name="adj" fmla="val 2867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223113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resolve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966960" y="2926080"/>
            <a:ext cx="1600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peças precisam estar certas ao mesmo tempo para isso funcionar?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→ unidade.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ou mais → integração.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REACT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isso fica em JSX, na vida real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2252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para ler. A prática é na semana que vem — hoje é entender a forma.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6858000" cy="3749040"/>
          </a:xfrm>
          <a:prstGeom prst="roundRect">
            <a:avLst>
              <a:gd name="adj" fmla="val 1463"/>
            </a:avLst>
          </a:prstGeom>
          <a:solidFill>
            <a:srgbClr val="0A0E13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020824"/>
            <a:ext cx="645566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test("adicionar ao carrinho atualiza o Header", async () =&gt; {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monta o cenário: rotas + carrinho + as duas telas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renderComApp(&lt;Produto /&gt;, { rota: "/Catalogo/2" });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o contador começa zerado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expect(screen.getByText("Carrinho (0)")).toBeInTheDocument();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age como um usuário: clica no botão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usuario.click(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screen.getByRole("button", { name: /adicionar/i }));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4. confere o efeito em OUTRA tela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expect(screen.getByText("Carrinho (1)")).toBeInTheDocument();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26096" y="1874520"/>
            <a:ext cx="3998671" cy="89611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45552" y="21488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45552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47888" y="2002536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47888" y="2276856"/>
            <a:ext cx="31757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Rotas, carrinho e telas juntos. Isso não existe num teste de unidade.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26096" y="2843784"/>
            <a:ext cx="3998671" cy="89611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45552" y="311810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4555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47888" y="2971800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antes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47888" y="3246120"/>
            <a:ext cx="31757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o estado inicial evita um teste que passa por acaso.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26096" y="3813048"/>
            <a:ext cx="3998671" cy="89611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45552" y="408736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45552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47888" y="3941064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47888" y="4215384"/>
            <a:ext cx="31757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de verdade — não é chamar a função na mão.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626096" y="4782312"/>
            <a:ext cx="3998671" cy="896112"/>
          </a:xfrm>
          <a:prstGeom prst="roundRect">
            <a:avLst>
              <a:gd name="adj" fmla="val 612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45552" y="50566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47888" y="4910328"/>
            <a:ext cx="3157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pulo do gato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247888" y="5184648"/>
            <a:ext cx="31757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Header não aparece em lugar nenhum do teste. E é ele que prova que deu certo.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de hoje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28800"/>
            <a:ext cx="658368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20299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CINCO IDEIAS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9536" y="2340864"/>
            <a:ext cx="59984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unidade é o músico ensaiando sozinho; integração é a banda ensaiando junta.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bug de integração não mora dentro de nenhuma peça — mora no espaço entre elas.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muda em um passo: montar o cenário. É ele que dá o trabalho.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Mexo numa peça, confiro o efeito em outra. Essa é a assinatura do teste de integração.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e caros em cima, muitos e baratos embaixo. A pirâmide é economia, não preguiça.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70064" y="1828800"/>
            <a:ext cx="4254703" cy="3017520"/>
          </a:xfrm>
          <a:prstGeom prst="roundRect">
            <a:avLst>
              <a:gd name="adj" fmla="val 1818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62672" y="20299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PERGUNTA DA PROVA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62672" y="2377440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"Cite um defeito que um teste de unidade nunca encontraria, e explique por quê."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62672" y="3474720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consegue responder isso com suas palavras, entendeu a aula de hoje.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5029200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1C24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5175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 AULA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9536" y="5431536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esse teste do slide anterior vocês escrevem, linha por linha — e o Header vai mudar sozinho na frente de todo mundo.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Integracao - Teoria</dc:title>
  <dc:subject>PptxGenJS Presentation</dc:subject>
  <dc:creator>Bruno Schmitz da Silva</dc:creator>
  <cp:lastModifiedBy>Bruno Schmitz da Silva</cp:lastModifiedBy>
  <cp:revision>1</cp:revision>
  <dcterms:created xsi:type="dcterms:W3CDTF">2026-09-09T14:55:12Z</dcterms:created>
  <dcterms:modified xsi:type="dcterms:W3CDTF">2026-09-09T14:55:12Z</dcterms:modified>
</cp:coreProperties>
</file>